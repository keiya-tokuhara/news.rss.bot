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0" y="2743200"/>
            <a:ext cx="8412480" cy="155448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0" y="27889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864"/>
                </a:solidFill>
              </a:rPr>
              <a:t>自動導入経過報告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3493008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252525"/>
                </a:solidFill>
              </a:rPr>
              <a:t>— 2026年1月〜2026年4月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4663440"/>
            <a:ext cx="5029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600" b="1">
                <a:solidFill>
                  <a:srgbClr val="1F3864"/>
                </a:solidFill>
              </a:rPr>
              <a:t>セブンデイズホテル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5349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0">
                <a:solidFill>
                  <a:srgbClr val="1F3864"/>
                </a:solidFill>
              </a:rPr>
              <a:t>手間いらず株式会社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導入内容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3657600" cy="3291840"/>
          </a:xfrm>
          <a:prstGeom prst="rect">
            <a:avLst/>
          </a:prstGeom>
          <a:solidFill>
            <a:srgbClr val="F0F5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384048" cy="38404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384048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864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2525"/>
                </a:solidFill>
              </a:rPr>
              <a:t>料金在庫管理販売期間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52525"/>
                </a:solidFill>
              </a:rPr>
              <a:t>12か月先（365日先）まで、
24時間体制で「料金」「在庫」を自動監視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05840"/>
            <a:ext cx="3657600" cy="3291840"/>
          </a:xfrm>
          <a:prstGeom prst="rect">
            <a:avLst/>
          </a:prstGeom>
          <a:solidFill>
            <a:srgbClr val="F0F5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143000"/>
            <a:ext cx="384048" cy="38404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143000"/>
            <a:ext cx="384048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864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2525"/>
                </a:solidFill>
              </a:rPr>
              <a:t>TP（ターゲットプライス）
設定ルール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46888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52525"/>
                </a:solidFill>
              </a:rPr>
              <a:t>設定ルール
全部屋 × ランク × 残室数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005840"/>
            <a:ext cx="3657600" cy="3291840"/>
          </a:xfrm>
          <a:prstGeom prst="rect">
            <a:avLst/>
          </a:prstGeom>
          <a:solidFill>
            <a:srgbClr val="F0F5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80" y="1143000"/>
            <a:ext cx="384048" cy="38404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143000"/>
            <a:ext cx="384048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3864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600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2525"/>
                </a:solidFill>
              </a:rPr>
              <a:t>販売チャネル 自動調整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46888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52525"/>
                </a:solidFill>
              </a:rPr>
              <a:t>稼働率に応じて海外サイトの売止を
調整し、収益性を向上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572000"/>
            <a:ext cx="11430000" cy="59436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645152"/>
            <a:ext cx="1115568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52525"/>
                </a:solidFill>
              </a:rPr>
              <a:t>✅  自動化により日次の料金確認作業を削減しつつ、手動調整との併用で柔軟なレベニュー運用を実現。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変動履歴対象年月：2026年3月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200" b="1">
                <a:solidFill>
                  <a:srgbClr val="1F3864"/>
                </a:solidFill>
              </a:rPr>
              <a:t>1,192回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64008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07070"/>
                </a:solidFill>
              </a:rPr>
              <a:t>※集計期間：2026年1月〜4月
※対象部屋：デイズ S（全OTAチャネル合計）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11795760" cy="4663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6199632"/>
            <a:ext cx="11612880" cy="53035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72784"/>
            <a:ext cx="1133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52525"/>
                </a:solidFill>
              </a:rPr>
              <a:t>✅  TP設定により、2026年3月分で 1,192回 の価格変動を自動実行し、機会損失の防止と収益最大化に寄与。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変動履歴対象年月：2026年4月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200" b="1">
                <a:solidFill>
                  <a:srgbClr val="1F3864"/>
                </a:solidFill>
              </a:rPr>
              <a:t>685回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64008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07070"/>
                </a:solidFill>
              </a:rPr>
              <a:t>※集計期間：2026年1月〜4月
※対象部屋：デイズ S（全OTAチャネル合計）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11795760" cy="4663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6199632"/>
            <a:ext cx="11612880" cy="53035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72784"/>
            <a:ext cx="1133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52525"/>
                </a:solidFill>
              </a:rPr>
              <a:t>✅  TP設定により、2026年4月分で 685回 の価格変動を自動実行し、機会損失の防止と収益最大化に寄与。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85313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昨対比較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4114800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⬤⬤⬤  TEMAIRAZU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月次実績比較（チェックイン日ベース　2025年 vs 2026年）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731520"/>
          <a:ext cx="40690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60120"/>
                <a:gridCol w="960120"/>
                <a:gridCol w="960120"/>
              </a:tblGrid>
              <a:tr h="914400"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2025年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2026年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増減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914400"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252525"/>
                          </a:solidFill>
                        </a:rPr>
                        <a:t>OCC（%）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252525"/>
                          </a:solidFill>
                        </a:rPr>
                        <a:t>67.1%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252525"/>
                          </a:solidFill>
                        </a:rPr>
                        <a:t>60.2%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252525"/>
                          </a:solidFill>
                        </a:rPr>
                        <a:t>-6.9pt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252525"/>
                          </a:solidFill>
                        </a:rPr>
                        <a:t>ADR（円）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252525"/>
                          </a:solidFill>
                        </a:rPr>
                        <a:t>¥8,668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252525"/>
                          </a:solidFill>
                        </a:rPr>
                        <a:t>¥9,559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C00000"/>
                          </a:solidFill>
                        </a:rPr>
                        <a:t>+891円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914400"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252525"/>
                          </a:solidFill>
                        </a:rPr>
                        <a:t>RevPAR（円）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252525"/>
                          </a:solidFill>
                        </a:rPr>
                        <a:t>¥5,820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252525"/>
                          </a:solidFill>
                        </a:rPr>
                        <a:t>¥5,744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252525"/>
                          </a:solidFill>
                        </a:rPr>
                        <a:t>-76円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252525"/>
                          </a:solidFill>
                        </a:rPr>
                        <a:t>売上（円）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252525"/>
                          </a:solidFill>
                        </a:rPr>
                        <a:t>¥41,458,787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252525"/>
                          </a:solidFill>
                        </a:rPr>
                        <a:t>¥40,978,117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252525"/>
                          </a:solidFill>
                        </a:rPr>
                        <a:t>-480,670円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685800"/>
            <a:ext cx="7498079" cy="5943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577840"/>
            <a:ext cx="4023360" cy="59436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650992"/>
            <a:ext cx="37490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52525"/>
                </a:solidFill>
              </a:rPr>
              <a:t>✅  稼働率はOCC・売上にばらつきがあるものの、ADRは全月で上昇。単価改善が進んでいます。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運用変化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77240"/>
            <a:ext cx="5394960" cy="4297680"/>
          </a:xfrm>
          <a:prstGeom prst="rect">
            <a:avLst/>
          </a:prstGeom>
          <a:solidFill>
            <a:srgbClr val="F0F5FB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120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【Before】手動オペレーション中心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1F3864"/>
                </a:solidFill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55648"/>
            <a:ext cx="5120640" cy="182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0136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52525"/>
                </a:solidFill>
              </a:rPr>
              <a:t>毎朝：直近予約・オンハンド
確認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1F3864"/>
                </a:solidFill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24328"/>
            <a:ext cx="5120640" cy="182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67004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52525"/>
                </a:solidFill>
              </a:rPr>
              <a:t>前日比較で料金調整
（365日先まで）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15468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1F3864"/>
                </a:solidFill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93008"/>
            <a:ext cx="5120640" cy="182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5387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52525"/>
                </a:solidFill>
              </a:rPr>
              <a:t>予約内訳を分析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2336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1F3864"/>
                </a:solidFill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61688"/>
            <a:ext cx="5120640" cy="182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40740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52525"/>
                </a:solidFill>
              </a:rPr>
              <a:t>セールス・マーケ施策の実施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777240"/>
            <a:ext cx="5394960" cy="4297680"/>
          </a:xfrm>
          <a:prstGeom prst="rect">
            <a:avLst/>
          </a:prstGeom>
          <a:solidFill>
            <a:srgbClr val="F0F5FB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822960"/>
            <a:ext cx="5120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D7D31"/>
                </a:solidFill>
              </a:rPr>
              <a:t>【After】自動化＋判断業務へシフト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4173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D7D31"/>
                </a:solidFill>
              </a:rPr>
              <a:t>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1755648"/>
            <a:ext cx="5120640" cy="182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80136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52525"/>
                </a:solidFill>
              </a:rPr>
              <a:t>毎朝：直近予約・オンハンド
確認 ＋ TPの動きを確認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28600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D7D31"/>
                </a:solidFill>
              </a:rPr>
              <a:t>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2624328"/>
            <a:ext cx="5120640" cy="182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67004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52525"/>
                </a:solidFill>
              </a:rPr>
              <a:t>365日先まで自動調整
（需要・在庫に応じてリアルタイム調整）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15468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D7D31"/>
                </a:solidFill>
              </a:rPr>
              <a:t>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3493008"/>
            <a:ext cx="5120640" cy="182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35387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52525"/>
                </a:solidFill>
              </a:rPr>
              <a:t>予約内訳を多角的に分析
（サイト別・属性・プラン・部屋）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02336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D7D31"/>
                </a:solidFill>
              </a:rPr>
              <a:t>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4361688"/>
            <a:ext cx="5120640" cy="182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440740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52525"/>
                </a:solidFill>
              </a:rPr>
              <a:t>セールス・マーケ施策の実施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349240"/>
            <a:ext cx="11521440" cy="59436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422392"/>
            <a:ext cx="112471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52525"/>
                </a:solidFill>
              </a:rPr>
              <a:t>✅  価格調整の工数削減により、分析・戦略業務へリソースを集中できる運用へ転換。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